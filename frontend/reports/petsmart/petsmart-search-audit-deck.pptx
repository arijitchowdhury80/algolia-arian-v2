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9"/>
    <p:sldId id="264" r:id="rId8"/>
  </p:sldIdLst>
  <p:sldSz cy="5143500" cx="9144000"/>
  <p:notesSz cx="6858000" cy="9144000"/>
  <p:embeddedFontLst>
    <p:embeddedFont>
      <p:font typeface="Sora"/>
      <p:regular r:id="rId17"/>
      <p:bold r:id="rId18"/>
    </p:embeddedFont>
    <p:embeddedFont>
      <p:font typeface="Sora Medium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font" Target="fonts/Sora-regular.fntdata"/><Relationship Id="rId18" Type="http://schemas.openxmlformats.org/officeDocument/2006/relationships/font" Target="fonts/Sora-bold.fntdata"/><Relationship Id="rId19" Type="http://schemas.openxmlformats.org/officeDocument/2006/relationships/font" Target="fonts/SoraMedium-regular.fntdata"/><Relationship Id="rId20" Type="http://schemas.openxmlformats.org/officeDocument/2006/relationships/font" Target="fonts/SoraMedium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04000" y="2109607"/>
            <a:ext cx="6936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169300" y="3844750"/>
            <a:ext cx="4805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None/>
              <a:defRPr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ONFIDENTIAL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104000" y="2109607"/>
            <a:ext cx="6936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169300" y="3844750"/>
            <a:ext cx="4805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None/>
              <a:defRPr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/>
        </p:nvSpPr>
        <p:spPr>
          <a:xfrm>
            <a:off x="3947700" y="4802025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31550" y="1982175"/>
            <a:ext cx="2287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532200" y="1242150"/>
            <a:ext cx="530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Sora"/>
              <a:buChar char="●"/>
              <a:defRPr b="1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E89BD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E89BD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20" name="Google Shape;20;p4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- CONFIDENTIAL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31550" y="1982175"/>
            <a:ext cx="2287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532200" y="1242150"/>
            <a:ext cx="530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Sora"/>
              <a:buChar char="●"/>
              <a:defRPr b="1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E89BD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E89BD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25" name="Google Shape;25;p5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/>
        </p:nvSpPr>
        <p:spPr>
          <a:xfrm>
            <a:off x="127413" y="4812796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body slide style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600"/>
              <a:buFont typeface="Sora"/>
              <a:buNone/>
              <a:defRPr b="1" sz="26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11700" y="114293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body slide  - CONFIDENTIAL">
  <p:cSld name="TITLE_AND_BOD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600"/>
              <a:buFont typeface="Sora"/>
              <a:buNone/>
              <a:defRPr b="1" sz="26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14293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7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/>
        </p:nvSpPr>
        <p:spPr>
          <a:xfrm>
            <a:off x="127413" y="4727427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body slide style 1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600"/>
              <a:buFont typeface="Sora"/>
              <a:buNone/>
              <a:defRPr b="1" sz="26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11700" y="1142950"/>
            <a:ext cx="341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8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461850" y="1142950"/>
            <a:ext cx="345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body slide  - CONFIDENTIAL">
  <p:cSld name="TITLE_AND_BODY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600"/>
              <a:buFont typeface="Sora"/>
              <a:buNone/>
              <a:defRPr b="1" sz="26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1700" y="1142950"/>
            <a:ext cx="341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" name="Google Shape;48;p9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461850" y="1142950"/>
            <a:ext cx="345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●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○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0"/>
              <a:buFont typeface="Sora"/>
              <a:buChar char="■"/>
              <a:defRPr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0" name="Google Shape;50;p9"/>
          <p:cNvSpPr txBox="1"/>
          <p:nvPr/>
        </p:nvSpPr>
        <p:spPr>
          <a:xfrm>
            <a:off x="127413" y="4727427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body slide style 1 1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600"/>
              <a:buFont typeface="Sora"/>
              <a:buNone/>
              <a:defRPr b="1" sz="26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1142950"/>
            <a:ext cx="24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0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3247353" y="1142950"/>
            <a:ext cx="244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3" type="body"/>
          </p:nvPr>
        </p:nvSpPr>
        <p:spPr>
          <a:xfrm>
            <a:off x="6206156" y="1142950"/>
            <a:ext cx="244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 body slide  - CONFIDENTIAL">
  <p:cSld name="TITLE_AND_BOD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600"/>
              <a:buFont typeface="Sora"/>
              <a:buNone/>
              <a:defRPr b="1" sz="26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1142950"/>
            <a:ext cx="24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1" title="Group 100000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3247353" y="1142950"/>
            <a:ext cx="244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3" type="body"/>
          </p:nvPr>
        </p:nvSpPr>
        <p:spPr>
          <a:xfrm>
            <a:off x="6206156" y="1142950"/>
            <a:ext cx="244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●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○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Sora"/>
              <a:buChar char="■"/>
              <a:defRPr sz="12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" name="Google Shape;65;p11"/>
          <p:cNvSpPr txBox="1"/>
          <p:nvPr/>
        </p:nvSpPr>
        <p:spPr>
          <a:xfrm>
            <a:off x="127413" y="4727427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ackground body slide style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Sora"/>
              <a:buNone/>
              <a:defRPr b="1" sz="2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311700" y="114293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70" name="Google Shape;70;p12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ackground body slide  - CONFIDENTIAL">
  <p:cSld name="TITLE_AND_TWO_COLUMNS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Sora"/>
              <a:buNone/>
              <a:defRPr b="1" sz="2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311700" y="114293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Sora"/>
              <a:buChar char="●"/>
              <a:defRPr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75" name="Google Shape;75;p13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127413" y="4727427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+Graphic-Slide-Dark-Background-1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>
            <p:ph type="title"/>
          </p:nvPr>
        </p:nvSpPr>
        <p:spPr>
          <a:xfrm>
            <a:off x="291850" y="742700"/>
            <a:ext cx="42822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ora"/>
              <a:buNone/>
              <a:defRPr b="1" sz="3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311700" y="2053825"/>
            <a:ext cx="3944700" cy="2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"/>
              <a:buChar char="●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11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○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Sora"/>
              <a:buChar char="■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●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○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■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●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○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■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" name="Google Shape;81;p14"/>
          <p:cNvSpPr/>
          <p:nvPr>
            <p:ph idx="2" type="pic"/>
          </p:nvPr>
        </p:nvSpPr>
        <p:spPr>
          <a:xfrm>
            <a:off x="4806375" y="952500"/>
            <a:ext cx="3944700" cy="3323700"/>
          </a:xfrm>
          <a:prstGeom prst="roundRect">
            <a:avLst>
              <a:gd fmla="val 5050" name="adj"/>
            </a:avLst>
          </a:prstGeom>
          <a:noFill/>
          <a:ln>
            <a:noFill/>
          </a:ln>
        </p:spPr>
      </p:sp>
      <p:pic>
        <p:nvPicPr>
          <p:cNvPr id="82" name="Google Shape;82;p14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+Graphic-Slide-Dark-Background - CONFIDENTIAL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291850" y="742700"/>
            <a:ext cx="42822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ora"/>
              <a:buNone/>
              <a:defRPr b="1" sz="3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2053825"/>
            <a:ext cx="3944700" cy="2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"/>
              <a:buChar char="●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11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○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Sora"/>
              <a:buChar char="■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●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○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■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●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○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ora"/>
              <a:buChar char="■"/>
              <a:defRPr sz="13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" name="Google Shape;87;p15"/>
          <p:cNvSpPr/>
          <p:nvPr>
            <p:ph idx="2" type="pic"/>
          </p:nvPr>
        </p:nvSpPr>
        <p:spPr>
          <a:xfrm>
            <a:off x="4806375" y="952500"/>
            <a:ext cx="3944700" cy="3323700"/>
          </a:xfrm>
          <a:prstGeom prst="roundRect">
            <a:avLst>
              <a:gd fmla="val 5050" name="adj"/>
            </a:avLst>
          </a:prstGeom>
          <a:noFill/>
          <a:ln>
            <a:noFill/>
          </a:ln>
        </p:spPr>
      </p:sp>
      <p:pic>
        <p:nvPicPr>
          <p:cNvPr id="88" name="Google Shape;88;p15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127413" y="4706085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-Styled-Content-Dark-Background-2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1339453" y="960959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6"/>
          <p:cNvSpPr txBox="1"/>
          <p:nvPr>
            <p:ph idx="2" type="title"/>
          </p:nvPr>
        </p:nvSpPr>
        <p:spPr>
          <a:xfrm>
            <a:off x="1339453" y="3100271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3" type="title"/>
          </p:nvPr>
        </p:nvSpPr>
        <p:spPr>
          <a:xfrm>
            <a:off x="1339453" y="3813375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4" type="title"/>
          </p:nvPr>
        </p:nvSpPr>
        <p:spPr>
          <a:xfrm>
            <a:off x="1339453" y="1674063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6" name="Google Shape;96;p16"/>
          <p:cNvSpPr txBox="1"/>
          <p:nvPr>
            <p:ph idx="5" type="title"/>
          </p:nvPr>
        </p:nvSpPr>
        <p:spPr>
          <a:xfrm>
            <a:off x="1339453" y="2387167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97" name="Google Shape;97;p16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-Styled-Content-Dark-Background - CONFIDENTIAL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339453" y="960959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2" type="title"/>
          </p:nvPr>
        </p:nvSpPr>
        <p:spPr>
          <a:xfrm>
            <a:off x="1339453" y="3100271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3" type="title"/>
          </p:nvPr>
        </p:nvSpPr>
        <p:spPr>
          <a:xfrm>
            <a:off x="1339453" y="3813375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4" type="title"/>
          </p:nvPr>
        </p:nvSpPr>
        <p:spPr>
          <a:xfrm>
            <a:off x="1339453" y="1674063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5" type="title"/>
          </p:nvPr>
        </p:nvSpPr>
        <p:spPr>
          <a:xfrm>
            <a:off x="1339453" y="2387167"/>
            <a:ext cx="6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5" name="Google Shape;105;p17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127413" y="4706085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-Bucket-Columns-Dark-Background-3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912906" y="951066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Sora"/>
              <a:buNone/>
              <a:defRPr b="1" sz="31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10" name="Google Shape;110;p18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-Bucket-Columns-Dark-Background - CONFIDENTIAL">
  <p:cSld name="ONE_COLUMN_TEX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912906" y="951066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Sora"/>
              <a:buNone/>
              <a:defRPr b="1" sz="31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14" name="Google Shape;114;p19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127413" y="4706085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1026900" y="420375"/>
            <a:ext cx="7090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0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CONFIDENTIAL">
  <p:cSld name="MAIN_POI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1026900" y="420375"/>
            <a:ext cx="7090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21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3947700" y="4802025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ackground body slide style">
  <p:cSld name="MAIN_POI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Sora"/>
              <a:buNone/>
              <a:defRPr b="1" sz="2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4293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ora"/>
              <a:buChar char="●"/>
              <a:defRPr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129" name="Google Shape;129;p22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ackground body slide - CONFIDENTIAL">
  <p:cSld name="MAIN_POINT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291856" y="236678"/>
            <a:ext cx="73182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Sora"/>
              <a:buNone/>
              <a:defRPr b="1" sz="2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4293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ora"/>
              <a:buChar char="●"/>
              <a:defRPr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●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○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ra"/>
              <a:buChar char="■"/>
              <a:defRPr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134" name="Google Shape;134;p23" title="Group 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387" y="157888"/>
            <a:ext cx="729642" cy="1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127413" y="4706085"/>
            <a:ext cx="1248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CONFIDENTIAL</a:t>
            </a:r>
            <a:endParaRPr b="1" sz="7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800"/>
              <a:buFont typeface="Sora"/>
              <a:buNone/>
              <a:defRPr b="1" sz="2800">
                <a:solidFill>
                  <a:srgbClr val="000033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6278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algolia.com/customers/bigw" TargetMode="External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nielseniq.com/global/en/insights/analysis/2025/global-pet-expo-2025-key-trends-themes" TargetMode="External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ora"/>
              </a:rPr>
              <a:t>eCommerce Search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Sora"/>
              </a:rPr>
              <a:t>PetSmart   |   Prepared by Algolia</a:t>
            </a:r>
          </a:p>
        </p:txBody>
      </p:sp>
      <p:pic>
        <p:nvPicPr>
          <p:cNvPr id="4" name="Picture 3" descr="Algolia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658368"/>
            <a:ext cx="1920240" cy="4364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DFF"/>
                </a:solidFill>
                <a:latin typeface="Sora"/>
              </a:rPr>
              <a:t>Search audit scorecard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896" y="1051560"/>
            <a:ext cx="28346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4600" b="1" i="0">
                <a:solidFill>
                  <a:srgbClr val="003DFF"/>
                </a:solidFill>
                <a:latin typeface="Sora"/>
              </a:rPr>
              <a:t>5.8</a:t>
            </a:r>
            <a:r>
              <a:rPr sz="1800" b="0" i="0">
                <a:solidFill>
                  <a:srgbClr val="6B7280"/>
                </a:solidFill>
                <a:latin typeface="Sora"/>
              </a:rPr>
              <a:t> /10</a:t>
            </a: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21243D"/>
                </a:solidFill>
                <a:latin typeface="Sora"/>
              </a:rPr>
              <a:t>Strong Foundation, Unactivated Upside</a:t>
            </a:r>
          </a:p>
          <a:p>
            <a:pPr>
              <a:spcBef>
                <a:spcPts val="200"/>
              </a:spcBef>
            </a:pPr>
            <a:r>
              <a:rPr sz="1000" b="1" i="0">
                <a:solidFill>
                  <a:srgbClr val="DC2626"/>
                </a:solidFill>
                <a:latin typeface="Sora"/>
              </a:rPr>
              <a:t>0 critical  </a:t>
            </a:r>
            <a:r>
              <a:rPr sz="1000" b="1" i="0">
                <a:solidFill>
                  <a:srgbClr val="D97706"/>
                </a:solidFill>
                <a:latin typeface="Sora"/>
              </a:rPr>
              <a:t>5 moderate  </a:t>
            </a:r>
            <a:r>
              <a:rPr sz="1000" b="1" i="0">
                <a:solidFill>
                  <a:srgbClr val="059660"/>
                </a:solidFill>
                <a:latin typeface="Sora"/>
              </a:rPr>
              <a:t>5 strengths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051560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93008" y="1051560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D97706"/>
                </a:solidFill>
                <a:latin typeface="Sora"/>
              </a:rPr>
              <a:t>3</a:t>
            </a:r>
            <a:r>
              <a:rPr sz="900" b="0" i="0">
                <a:solidFill>
                  <a:srgbClr val="D97706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Semantic / NLP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051560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051560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D97706"/>
                </a:solidFill>
                <a:latin typeface="Sora"/>
              </a:rPr>
              <a:t>4</a:t>
            </a:r>
            <a:r>
              <a:rPr sz="900" b="0" i="0">
                <a:solidFill>
                  <a:srgbClr val="D97706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Query Suggestions / Empty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28216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728216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D97706"/>
                </a:solidFill>
                <a:latin typeface="Sora"/>
              </a:rPr>
              <a:t>5</a:t>
            </a:r>
            <a:r>
              <a:rPr sz="900" b="0" i="0">
                <a:solidFill>
                  <a:srgbClr val="D97706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Content Commerce / Front-End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28216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728216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D97706"/>
                </a:solidFill>
                <a:latin typeface="Sora"/>
              </a:rPr>
              <a:t>5</a:t>
            </a:r>
            <a:r>
              <a:rPr sz="900" b="0" i="0">
                <a:solidFill>
                  <a:srgbClr val="D97706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Dynamic Facets &amp; Personalization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404872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404872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D97706"/>
                </a:solidFill>
                <a:latin typeface="Sora"/>
              </a:rPr>
              <a:t>5</a:t>
            </a:r>
            <a:r>
              <a:rPr sz="900" b="0" i="0">
                <a:solidFill>
                  <a:srgbClr val="D97706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Recommendations &amp; Merchandising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404872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2700">
            <a:solidFill>
              <a:srgbClr val="05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404872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059660"/>
                </a:solidFill>
                <a:latin typeface="Sora"/>
              </a:rPr>
              <a:t>8</a:t>
            </a:r>
            <a:r>
              <a:rPr sz="900" b="0" i="0">
                <a:solidFill>
                  <a:srgbClr val="059660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Intent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081527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2700">
            <a:solidFill>
              <a:srgbClr val="05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3081527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059660"/>
                </a:solidFill>
                <a:latin typeface="Sora"/>
              </a:rPr>
              <a:t>8</a:t>
            </a:r>
            <a:r>
              <a:rPr sz="900" b="0" i="0">
                <a:solidFill>
                  <a:srgbClr val="059660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Merchandising Consistency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3081527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2700">
            <a:solidFill>
              <a:srgbClr val="05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3081527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059660"/>
                </a:solidFill>
                <a:latin typeface="Sora"/>
              </a:rPr>
              <a:t>9</a:t>
            </a:r>
            <a:r>
              <a:rPr sz="900" b="0" i="0">
                <a:solidFill>
                  <a:srgbClr val="059660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758183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2700">
            <a:solidFill>
              <a:srgbClr val="05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758183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059660"/>
                </a:solidFill>
                <a:latin typeface="Sora"/>
              </a:rPr>
              <a:t>9</a:t>
            </a:r>
            <a:r>
              <a:rPr sz="900" b="0" i="0">
                <a:solidFill>
                  <a:srgbClr val="059660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Typo Tolerance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758183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2700">
            <a:solidFill>
              <a:srgbClr val="05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3758183"/>
            <a:ext cx="2514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1700" b="1" i="0">
                <a:solidFill>
                  <a:srgbClr val="059660"/>
                </a:solidFill>
                <a:latin typeface="Sora"/>
              </a:rPr>
              <a:t>9</a:t>
            </a:r>
            <a:r>
              <a:rPr sz="900" b="0" i="0">
                <a:solidFill>
                  <a:srgbClr val="059660"/>
                </a:solidFill>
                <a:latin typeface="Sora"/>
              </a:rPr>
              <a:t>/10  </a:t>
            </a:r>
            <a:r>
              <a:rPr sz="950" b="1" i="0">
                <a:solidFill>
                  <a:srgbClr val="21243D"/>
                </a:solidFill>
                <a:latin typeface="Sora"/>
              </a:rPr>
              <a:t>Search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ora"/>
              </a:rPr>
              <a:t>Areas of improvement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1600">
                <a:solidFill>
                  <a:srgbClr val="000033"/>
                </a:solidFill>
                <a:latin typeface="Sora"/>
              </a:rPr>
              <a:t>Conversational queries dead-end at zero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1024128"/>
            <a:ext cx="4160520" cy="2331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TESTED</a:t>
            </a:r>
          </a:p>
          <a:p>
            <a:pPr>
              <a:spcAft>
                <a:spcPts val="0"/>
              </a:spcAft>
            </a:pPr>
            <a:r>
              <a:rPr sz="1000" b="1" i="0">
                <a:solidFill>
                  <a:srgbClr val="21243D"/>
                </a:solidFill>
                <a:latin typeface="Sora"/>
              </a:rPr>
              <a:t>"grain free food for a senior dog with kidney issues"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EXPECTED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Semantic intent parsing surfaces senior/renal/grain-free diets, cat-specific calming aids, and a reptile setup kit even without literal keyword overlap.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FOUND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All three multi-attribute natural-language queries return 0 results and a bare 'We couldn't find a match' dead-end with no suggestions or fallbacks. Identical on mobile (12c).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3456432"/>
            <a:ext cx="4160520" cy="1024128"/>
          </a:xfrm>
          <a:prstGeom prst="roundRect">
            <a:avLst>
              <a:gd name="adj" fmla="val 6000"/>
            </a:avLst>
          </a:prstGeom>
          <a:solidFill>
            <a:srgbClr val="F2F5FF"/>
          </a:solidFill>
          <a:ln w="12700">
            <a:solidFill>
              <a:srgbClr val="D9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DFF"/>
                </a:solidFill>
                <a:latin typeface="Sora"/>
              </a:rPr>
              <a:t>With Algolia  </a:t>
            </a:r>
            <a:r>
              <a:rPr sz="900" b="0" i="0">
                <a:solidFill>
                  <a:srgbClr val="21243D"/>
                </a:solidFill>
                <a:latin typeface="Sora"/>
              </a:rPr>
              <a:t>Algolia NeuralSearch (hybrid keyword + vector semantic) on the existing p-US_products index - an upgrade, not a migration. Closes long-tail and conversational intent that keyword matching cannot parse.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535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Sora"/>
              </a:rPr>
              <a:t>Verified against </a:t>
            </a:r>
            <a:r>
              <a:rPr sz="850" b="0" i="1">
                <a:solidFill>
                  <a:srgbClr val="6B7280"/>
                </a:solidFill>
                <a:latin typeface="Sora"/>
              </a:rPr>
              <a:t>PetSmart Algolia search analytics (30-day window)</a:t>
            </a:r>
          </a:p>
        </p:txBody>
      </p:sp>
      <p:pic>
        <p:nvPicPr>
          <p:cNvPr id="6" name="Picture 5" descr="13-nlp-senior-dog-kid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024128"/>
            <a:ext cx="4160520" cy="2600325"/>
          </a:xfrm>
          <a:prstGeom prst="rect">
            <a:avLst/>
          </a:prstGeom>
          <a:ln w="12700">
            <a:solidFill>
              <a:srgbClr val="E1E4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773168" y="1115568"/>
            <a:ext cx="1783080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lIns="76200"/>
          <a:lstStyle/>
          <a:p>
            <a:pPr algn="ctr"/>
            <a:r>
              <a:rPr sz="850" b="1" i="0">
                <a:solidFill>
                  <a:srgbClr val="FFFFFF"/>
                </a:solidFill>
                <a:latin typeface="Sora"/>
              </a:rPr>
              <a:t>What shoppers see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1600">
                <a:solidFill>
                  <a:srgbClr val="000033"/>
                </a:solidFill>
                <a:latin typeface="Sora"/>
              </a:rPr>
              <a:t>AI Personalization inert - userToken present, not re-ranking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1024128"/>
            <a:ext cx="4160520" cy="2331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TESTED</a:t>
            </a:r>
          </a:p>
          <a:p>
            <a:pPr>
              <a:spcAft>
                <a:spcPts val="0"/>
              </a:spcAft>
            </a:pPr>
            <a:r>
              <a:rPr sz="1000" b="1" i="0">
                <a:solidFill>
                  <a:srgbClr val="21243D"/>
                </a:solidFill>
                <a:latin typeface="Sora"/>
              </a:rPr>
              <a:t>"joint health (anonymous vs dog-browsed session)"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EXPECTED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A dog-browsing session biases 'joint health' / 'salmon' toward dog products; a cat/fish session re-ranks accordingly (species-aware re-ranking).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FOUND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Anonymous and dog-browsed 'joint health' return a pixel-identical result set (156 hits, same top-4, same SSR queryID fd48591c). 'salmon' returns an all-dog top-4 for every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3456432"/>
            <a:ext cx="4160520" cy="1024128"/>
          </a:xfrm>
          <a:prstGeom prst="roundRect">
            <a:avLst>
              <a:gd name="adj" fmla="val 6000"/>
            </a:avLst>
          </a:prstGeom>
          <a:solidFill>
            <a:srgbClr val="F2F5FF"/>
          </a:solidFill>
          <a:ln w="12700">
            <a:solidFill>
              <a:srgbClr val="D9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DFF"/>
                </a:solidFill>
                <a:latin typeface="Sora"/>
              </a:rPr>
              <a:t>With Algolia  </a:t>
            </a:r>
            <a:r>
              <a:rPr sz="900" b="0" i="0">
                <a:solidFill>
                  <a:srgbClr val="21243D"/>
                </a:solidFill>
                <a:latin typeface="Sora"/>
              </a:rPr>
              <a:t>Algolia AI Personalization + Dynamic Re-Ranking using the userToken/Insights data already flowing to App 97P6EWKR25 - consolidate three fragmented personalization vendors onto one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535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Sora"/>
              </a:rPr>
              <a:t>Verified against </a:t>
            </a:r>
            <a:r>
              <a:rPr sz="850" b="0" i="1">
                <a:solidFill>
                  <a:srgbClr val="6B7280"/>
                </a:solidFill>
                <a:latin typeface="Sora"/>
              </a:rPr>
              <a:t>PetSmart Algolia search analytics (30-day window)</a:t>
            </a:r>
          </a:p>
        </p:txBody>
      </p:sp>
      <p:pic>
        <p:nvPicPr>
          <p:cNvPr id="6" name="Picture 5" descr="17b-personalization-joint-dog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024128"/>
            <a:ext cx="4160520" cy="2600325"/>
          </a:xfrm>
          <a:prstGeom prst="rect">
            <a:avLst/>
          </a:prstGeom>
          <a:ln w="12700">
            <a:solidFill>
              <a:srgbClr val="E1E4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773168" y="1115568"/>
            <a:ext cx="1783080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lIns="76200"/>
          <a:lstStyle/>
          <a:p>
            <a:pPr algn="ctr"/>
            <a:r>
              <a:rPr sz="850" b="1" i="0">
                <a:solidFill>
                  <a:srgbClr val="FFFFFF"/>
                </a:solidFill>
                <a:latin typeface="Sora"/>
              </a:rPr>
              <a:t>What shoppers see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1600">
                <a:solidFill>
                  <a:srgbClr val="000033"/>
                </a:solidFill>
                <a:latin typeface="Sora"/>
              </a:rPr>
              <a:t>Zero-results null state is a bare dead-end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1024128"/>
            <a:ext cx="4160520" cy="2331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TESTED</a:t>
            </a:r>
          </a:p>
          <a:p>
            <a:pPr>
              <a:spcAft>
                <a:spcPts val="0"/>
              </a:spcAft>
            </a:pPr>
            <a:r>
              <a:rPr sz="1000" b="1" i="0">
                <a:solidFill>
                  <a:srgbClr val="21243D"/>
                </a:solidFill>
                <a:latin typeface="Sora"/>
              </a:rPr>
              <a:t>"zxqwbnm (gibberish)"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EXPECTED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A graceful null state with popular categories, Query Suggestions, or Recommend-powered best-sellers to rescue the session.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FOUND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0 results renders only 'We couldn't find a match', a phone number, and a 'Give feedback' button - no suggestions, no products, no recovery. PetSmart's own analytics show this is not an edge case: 15.98% of searches return zero.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3456432"/>
            <a:ext cx="4160520" cy="1024128"/>
          </a:xfrm>
          <a:prstGeom prst="roundRect">
            <a:avLst>
              <a:gd name="adj" fmla="val 6000"/>
            </a:avLst>
          </a:prstGeom>
          <a:solidFill>
            <a:srgbClr val="F2F5FF"/>
          </a:solidFill>
          <a:ln w="12700">
            <a:solidFill>
              <a:srgbClr val="D9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DFF"/>
                </a:solidFill>
                <a:latin typeface="Sora"/>
              </a:rPr>
              <a:t>With Algolia  </a:t>
            </a:r>
            <a:r>
              <a:rPr sz="900" b="0" i="0">
                <a:solidFill>
                  <a:srgbClr val="21243D"/>
                </a:solidFill>
                <a:latin typeface="Sora"/>
              </a:rPr>
              <a:t>Wire the existing Query Suggestions + Recommend best-sellers into the null state; add NeuralSearch so far fewer queries hit zero in the first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535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Sora"/>
              </a:rPr>
              <a:t>Verified against </a:t>
            </a:r>
            <a:r>
              <a:rPr sz="850" b="0" i="1">
                <a:solidFill>
                  <a:srgbClr val="6B7280"/>
                </a:solidFill>
                <a:latin typeface="Sora"/>
              </a:rPr>
              <a:t>PetSmart Algolia search analytics (30-day window)</a:t>
            </a:r>
          </a:p>
        </p:txBody>
      </p:sp>
      <p:pic>
        <p:nvPicPr>
          <p:cNvPr id="6" name="Picture 5" descr="07-no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024128"/>
            <a:ext cx="4160520" cy="2600325"/>
          </a:xfrm>
          <a:prstGeom prst="rect">
            <a:avLst/>
          </a:prstGeom>
          <a:ln w="12700">
            <a:solidFill>
              <a:srgbClr val="E1E4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773168" y="1115568"/>
            <a:ext cx="1783080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lIns="76200"/>
          <a:lstStyle/>
          <a:p>
            <a:pPr algn="ctr"/>
            <a:r>
              <a:rPr sz="850" b="1" i="0">
                <a:solidFill>
                  <a:srgbClr val="FFFFFF"/>
                </a:solidFill>
                <a:latin typeface="Sora"/>
              </a:rPr>
              <a:t>What shoppers see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1600">
                <a:solidFill>
                  <a:srgbClr val="000033"/>
                </a:solidFill>
                <a:latin typeface="Sora"/>
              </a:rPr>
              <a:t>No Algolia Recommend cross-sell on results or PDP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1024128"/>
            <a:ext cx="4160520" cy="2331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TESTED</a:t>
            </a:r>
          </a:p>
          <a:p>
            <a:pPr>
              <a:spcAft>
                <a:spcPts val="0"/>
              </a:spcAft>
            </a:pPr>
            <a:r>
              <a:rPr sz="1000" b="1" i="0">
                <a:solidFill>
                  <a:srgbClr val="21243D"/>
                </a:solidFill>
                <a:latin typeface="Sora"/>
              </a:rPr>
              <a:t>"flea and tick prevention (results + Seresto PDP)"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EXPECTED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Results and PDP show 'Frequently Bought Together' and complementary rails (shampoo, home spray, weight-correct dosing) powered by Algolia Recommend.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FOUND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Results page has no FBT carousel; the Seresto PDP shows a generic 'you may also like' (Granify/Einstein) and an Ordergroove Autoship CTA, but no Algolia Recommend FBT (fbt:false in DOM).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3456432"/>
            <a:ext cx="4160520" cy="1024128"/>
          </a:xfrm>
          <a:prstGeom prst="roundRect">
            <a:avLst>
              <a:gd name="adj" fmla="val 6000"/>
            </a:avLst>
          </a:prstGeom>
          <a:solidFill>
            <a:srgbClr val="F2F5FF"/>
          </a:solidFill>
          <a:ln w="12700">
            <a:solidFill>
              <a:srgbClr val="D9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DFF"/>
                </a:solidFill>
                <a:latin typeface="Sora"/>
              </a:rPr>
              <a:t>With Algolia  </a:t>
            </a:r>
            <a:r>
              <a:rPr sz="900" b="0" i="0">
                <a:solidFill>
                  <a:srgbClr val="21243D"/>
                </a:solidFill>
                <a:latin typeface="Sora"/>
              </a:rPr>
              <a:t>Algolia Recommend (Frequently Bought Together / Related Products / Trending) keyed off the same catalog + Insights events already in App 97P6EWKR25.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535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Sora"/>
              </a:rPr>
              <a:t>Verified against </a:t>
            </a:r>
            <a:r>
              <a:rPr sz="850" b="0" i="1">
                <a:solidFill>
                  <a:srgbClr val="003DFF"/>
                </a:solidFill>
                <a:latin typeface="Sora"/>
                <a:hlinkClick r:id="rId2"/>
              </a:rPr>
              <a:t>algolia.com</a:t>
            </a:r>
          </a:p>
        </p:txBody>
      </p:sp>
      <p:pic>
        <p:nvPicPr>
          <p:cNvPr id="6" name="Picture 5" descr="18-recommendations-p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024128"/>
            <a:ext cx="4160520" cy="2600325"/>
          </a:xfrm>
          <a:prstGeom prst="rect">
            <a:avLst/>
          </a:prstGeom>
          <a:ln w="12700">
            <a:solidFill>
              <a:srgbClr val="E1E4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773168" y="1115568"/>
            <a:ext cx="1783080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lIns="76200"/>
          <a:lstStyle/>
          <a:p>
            <a:pPr algn="ctr"/>
            <a:r>
              <a:rPr sz="850" b="1" i="0">
                <a:solidFill>
                  <a:srgbClr val="FFFFFF"/>
                </a:solidFill>
                <a:latin typeface="Sora"/>
              </a:rPr>
              <a:t>What shoppers see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1600">
                <a:solidFill>
                  <a:srgbClr val="000033"/>
                </a:solidFill>
                <a:latin typeface="Sora"/>
              </a:rPr>
              <a:t>No federated content + services search (moat siloed)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1024128"/>
            <a:ext cx="4160520" cy="2331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TESTED</a:t>
            </a:r>
          </a:p>
          <a:p>
            <a:pPr>
              <a:spcAft>
                <a:spcPts val="0"/>
              </a:spcAft>
            </a:pPr>
            <a:r>
              <a:rPr sz="1000" b="1" i="0">
                <a:solidFill>
                  <a:srgbClr val="21243D"/>
                </a:solidFill>
                <a:latin typeface="Sora"/>
              </a:rPr>
              <a:t>"return policy"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EXPECTED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Federated search surfaces Contentful policy/help pages and PetSmart's grooming/training/boarding/Banfield service-booking pages alongside or above products.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800" b="1" i="0" spc="80">
                <a:solidFill>
                  <a:srgbClr val="6B7280"/>
                </a:solidFill>
                <a:latin typeface="Sora"/>
              </a:rPr>
              <a:t>WE FOUND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1243D"/>
                </a:solidFill>
                <a:latin typeface="Sora"/>
              </a:rPr>
              <a:t>Both return 0 results and the bare dead-end. The product index is products-only; Contentful CMS help content and the entire in-store services moat are absent from the main search 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3456432"/>
            <a:ext cx="4160520" cy="1024128"/>
          </a:xfrm>
          <a:prstGeom prst="roundRect">
            <a:avLst>
              <a:gd name="adj" fmla="val 6000"/>
            </a:avLst>
          </a:prstGeom>
          <a:solidFill>
            <a:srgbClr val="F2F5FF"/>
          </a:solidFill>
          <a:ln w="12700">
            <a:solidFill>
              <a:srgbClr val="D9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DFF"/>
                </a:solidFill>
                <a:latin typeface="Sora"/>
              </a:rPr>
              <a:t>With Algolia  </a:t>
            </a:r>
            <a:r>
              <a:rPr sz="900" b="0" i="0">
                <a:solidFill>
                  <a:srgbClr val="21243D"/>
                </a:solidFill>
                <a:latin typeface="Sora"/>
              </a:rPr>
              <a:t>Algolia Federated Search (multi-index: products + Contentful content + services) so the channel where PetSmart beats Amazon/Chewy is actually searchable.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535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Sora"/>
              </a:rPr>
              <a:t>Verified against </a:t>
            </a:r>
            <a:r>
              <a:rPr sz="850" b="0" i="1">
                <a:solidFill>
                  <a:srgbClr val="003DFF"/>
                </a:solidFill>
                <a:latin typeface="Sora"/>
                <a:hlinkClick r:id="rId2"/>
              </a:rPr>
              <a:t>nielseniq.com</a:t>
            </a:r>
          </a:p>
        </p:txBody>
      </p:sp>
      <p:pic>
        <p:nvPicPr>
          <p:cNvPr id="6" name="Picture 5" descr="16-services-groo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024128"/>
            <a:ext cx="4160520" cy="2600325"/>
          </a:xfrm>
          <a:prstGeom prst="rect">
            <a:avLst/>
          </a:prstGeom>
          <a:ln w="12700">
            <a:solidFill>
              <a:srgbClr val="E1E4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773168" y="1115568"/>
            <a:ext cx="1783080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lIns="76200"/>
          <a:lstStyle/>
          <a:p>
            <a:pPr algn="ctr"/>
            <a:r>
              <a:rPr sz="850" b="1" i="0">
                <a:solidFill>
                  <a:srgbClr val="FFFFFF"/>
                </a:solidFill>
                <a:latin typeface="Sora"/>
              </a:rPr>
              <a:t>What shoppers see 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DFF"/>
                </a:solidFill>
                <a:latin typeface="Sora"/>
              </a:rPr>
              <a:t>Where to start: a scoped proof of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896" y="1097280"/>
            <a:ext cx="850392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 i="0">
                <a:solidFill>
                  <a:srgbClr val="21243D"/>
                </a:solidFill>
                <a:latin typeface="Sora"/>
              </a:rPr>
              <a:t>Prove the lift on your live index in weeks, not quarters. A focused POC on the highest impact gap, measured against your own analytics.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003DFF"/>
                </a:solidFill>
                <a:latin typeface="Sora"/>
              </a:rPr>
              <a:t>1. commercetools co-sell to CITO Fancher. </a:t>
            </a:r>
            <a:r>
              <a:rPr sz="1100" b="0" i="0">
                <a:solidFill>
                  <a:srgbClr val="21243D"/>
                </a:solidFill>
                <a:latin typeface="Sora"/>
              </a:rPr>
              <a:t>Engage Algolia's commercetools alliance team for a joint play: standardize PetSmart's existing Algolia deployment onto the native commercetools connector and pitch NeuralSearch activation to CITO Greg Fancher, who publicly champions an open plug-in platform. Lowest-friction, highest-leverage entry.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003DFF"/>
                </a:solidFill>
                <a:latin typeface="Sora"/>
              </a:rPr>
              <a:t>2. Activate NeuralSearch + zero-results recovery. </a:t>
            </a:r>
            <a:r>
              <a:rPr sz="1100" b="0" i="0">
                <a:solidFill>
                  <a:srgbClr val="21243D"/>
                </a:solidFill>
                <a:latin typeface="Sora"/>
              </a:rPr>
              <a:t>Phase-1 quick win on the live p-US_products index: enable NeuralSearch and wire the existing Query Suggestions index into the zero-results null state. Low-risk config on App 97P6EWKR25, matches CITO's incremental buying philosophy. (F1, F3)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003DFF"/>
                </a:solidFill>
                <a:latin typeface="Sora"/>
              </a:rPr>
              <a:t>3. Turn on AI Personalization + consolidate Recommend. </a:t>
            </a:r>
            <a:r>
              <a:rPr sz="1100" b="0" i="0">
                <a:solidFill>
                  <a:srgbClr val="21243D"/>
                </a:solidFill>
                <a:latin typeface="Sora"/>
              </a:rPr>
              <a:t>Activate AI Personalization + Dynamic Re-Ranking on the userToken/Insights data already flowing; move fragmented cross-sell (Granify/Einstein/Ordergroove) onto Algolia Recommend FBT. (F2, F4)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003DFF"/>
                </a:solidFill>
                <a:latin typeface="Sora"/>
              </a:rPr>
              <a:t>4. Federate services + content, close web↔app parity. </a:t>
            </a:r>
            <a:r>
              <a:rPr sz="1100" b="0" i="0">
                <a:solidFill>
                  <a:srgbClr val="21243D"/>
                </a:solidFill>
                <a:latin typeface="Sora"/>
              </a:rPr>
              <a:t>Federate grooming/training/Banfield services + Contentful help content into search; standardize on the native commercetools connector; verify and close native-app AI-search parity. (F5)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golia 2026">
  <a:themeElements>
    <a:clrScheme name="Simple Light">
      <a:dk1>
        <a:srgbClr val="000033"/>
      </a:dk1>
      <a:lt1>
        <a:srgbClr val="041A5F"/>
      </a:lt1>
      <a:dk2>
        <a:srgbClr val="36395A"/>
      </a:dk2>
      <a:lt2>
        <a:srgbClr val="FFFFFF"/>
      </a:lt2>
      <a:accent1>
        <a:srgbClr val="007FF5"/>
      </a:accent1>
      <a:accent2>
        <a:srgbClr val="29C7C4"/>
      </a:accent2>
      <a:accent3>
        <a:srgbClr val="8572F6"/>
      </a:accent3>
      <a:accent4>
        <a:srgbClr val="CEFF00"/>
      </a:accent4>
      <a:accent5>
        <a:srgbClr val="2F9CEE"/>
      </a:accent5>
      <a:accent6>
        <a:srgbClr val="15F8A1"/>
      </a:accent6>
      <a:hlink>
        <a:srgbClr val="E523C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